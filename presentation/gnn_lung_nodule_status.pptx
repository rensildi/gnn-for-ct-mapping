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19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_rels/slide18.xml.rels" ContentType="application/vnd.openxmlformats-package.relationships+xml"/>
  <Override PartName="/ppt/slides/_rels/slide17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966688-AF8C-46A0-8424-8C687879032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8BD0722-63AB-4B57-9985-55E3C4D10F7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B3414EF-500F-4051-8FA9-B69748B8F3A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AFA92C9-178D-4ED4-A60E-A4DC66F64FA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98D2D5F-00F8-48A8-8723-B65FF02FA7C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08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01503F2-58C3-4849-8BE0-DD3556904FF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A27D1EC-1766-4366-9BBD-8047B62517F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13D1774-DC17-4C36-AB57-69A4BA0CE1D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A1833E3-47DB-4FA1-904D-9028B6B14CB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FA5C247-C24A-4C37-9054-B4AF407DCF0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AD5FA43-C769-46E9-89AC-2DC6E13BDE2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D8B0EC3-69B3-4B43-97C7-6B986722D38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04AE4EB-4AF6-4338-8C05-805030B12D36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1"/>
          <p:cNvSpPr/>
          <p:nvPr/>
        </p:nvSpPr>
        <p:spPr>
          <a:xfrm>
            <a:off x="457200" y="1846800"/>
            <a:ext cx="11246760" cy="11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3400" spc="-1" strike="noStrike">
                <a:solidFill>
                  <a:srgbClr val="1f4e79"/>
                </a:solidFill>
                <a:latin typeface="Calibri"/>
              </a:rPr>
              <a:t>GNN-Based Lung Nodule Malignancy Classification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42" name="TextBox 2"/>
          <p:cNvSpPr/>
          <p:nvPr/>
        </p:nvSpPr>
        <p:spPr>
          <a:xfrm>
            <a:off x="457200" y="3063240"/>
            <a:ext cx="112467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333333"/>
                </a:solidFill>
                <a:latin typeface="Calibri"/>
              </a:rPr>
              <a:t>Multi-Modal Feature Embedding on CT Scans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3" name="Rectangle 3"/>
          <p:cNvSpPr/>
          <p:nvPr/>
        </p:nvSpPr>
        <p:spPr>
          <a:xfrm>
            <a:off x="5184720" y="3886200"/>
            <a:ext cx="1828440" cy="54360"/>
          </a:xfrm>
          <a:prstGeom prst="rect">
            <a:avLst/>
          </a:prstGeom>
          <a:solidFill>
            <a:srgbClr val="2e75b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4" name="TextBox 4"/>
          <p:cNvSpPr/>
          <p:nvPr/>
        </p:nvSpPr>
        <p:spPr>
          <a:xfrm>
            <a:off x="457200" y="4160520"/>
            <a:ext cx="112467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333333"/>
                </a:solidFill>
                <a:latin typeface="Calibri"/>
                <a:ea typeface="Noto Sans CJK SC"/>
              </a:rPr>
              <a:t>Harrison Lavins    •    Rensildi Kalanxhi   •    </a:t>
            </a:r>
            <a:r>
              <a:rPr b="0" lang="en-US" sz="2000" spc="-1" strike="noStrike">
                <a:solidFill>
                  <a:srgbClr val="333333"/>
                </a:solidFill>
                <a:latin typeface="Calibri"/>
              </a:rPr>
              <a:t>Swathi Gopal   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5" name="TextBox 5"/>
          <p:cNvSpPr/>
          <p:nvPr/>
        </p:nvSpPr>
        <p:spPr>
          <a:xfrm>
            <a:off x="457200" y="4800600"/>
            <a:ext cx="1124676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6b6b6b"/>
                </a:solidFill>
                <a:latin typeface="Calibri"/>
              </a:rPr>
              <a:t>CSC 7760 — Deep Learning    |    Status Update — April 2026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46" name="TextBox 6"/>
          <p:cNvSpPr/>
          <p:nvPr/>
        </p:nvSpPr>
        <p:spPr>
          <a:xfrm>
            <a:off x="10974240" y="6492240"/>
            <a:ext cx="5454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b6b6b"/>
                </a:solidFill>
                <a:latin typeface="Calibri"/>
              </a:rPr>
              <a:t>1 / 20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1"/>
          <p:cNvSpPr/>
          <p:nvPr/>
        </p:nvSpPr>
        <p:spPr>
          <a:xfrm>
            <a:off x="457200" y="320040"/>
            <a:ext cx="112467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000" spc="-1" strike="noStrike">
                <a:solidFill>
                  <a:srgbClr val="1f4e79"/>
                </a:solidFill>
                <a:latin typeface="Calibri"/>
              </a:rPr>
              <a:t>Project Goals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48" name="Rectangle 2"/>
          <p:cNvSpPr/>
          <p:nvPr/>
        </p:nvSpPr>
        <p:spPr>
          <a:xfrm>
            <a:off x="457200" y="1143000"/>
            <a:ext cx="1462680" cy="45360"/>
          </a:xfrm>
          <a:prstGeom prst="rect">
            <a:avLst/>
          </a:prstGeom>
          <a:solidFill>
            <a:srgbClr val="2e75b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9" name="TextBox 3"/>
          <p:cNvSpPr/>
          <p:nvPr/>
        </p:nvSpPr>
        <p:spPr>
          <a:xfrm>
            <a:off x="228600" y="1649160"/>
            <a:ext cx="11201400" cy="38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320040" indent="-27432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Primary research question:</a:t>
            </a:r>
            <a:br>
              <a:rPr sz="1800"/>
            </a:b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 </a:t>
            </a:r>
            <a:endParaRPr b="0" lang="en-US" sz="1800" spc="-1" strike="noStrike">
              <a:latin typeface="Arial"/>
            </a:endParaRPr>
          </a:p>
          <a:p>
            <a:pPr marL="320040" indent="-27432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333333"/>
                </a:solidFill>
                <a:latin typeface="Calibri"/>
              </a:rPr>
              <a:t>Does modeling inter-nodule relationships as a similarity graph improve malignancy classification versus classifying each nodule independently?</a:t>
            </a:r>
            <a:endParaRPr b="0" lang="en-US" sz="2000" spc="-1" strike="noStrike">
              <a:latin typeface="Arial"/>
            </a:endParaRPr>
          </a:p>
          <a:p>
            <a:pPr marL="777240" indent="-27432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777240" indent="-27432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600" spc="-1" strike="noStrike">
              <a:latin typeface="Arial"/>
            </a:endParaRPr>
          </a:p>
          <a:p>
            <a:pPr marL="777240" indent="-27432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600" spc="-1" strike="noStrike">
              <a:latin typeface="Arial"/>
            </a:endParaRPr>
          </a:p>
          <a:p>
            <a:pPr marL="3200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Head-to-head comparison on LIDC-IDRI dataset</a:t>
            </a:r>
            <a:endParaRPr b="0" lang="en-US" sz="1800" spc="-1" strike="noStrike">
              <a:latin typeface="Arial"/>
            </a:endParaRPr>
          </a:p>
          <a:p>
            <a:pPr marL="7772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–  </a:t>
            </a: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2-layer Graph Convolutional Network head</a:t>
            </a:r>
            <a:endParaRPr b="0" lang="en-US" sz="1600" spc="-1" strike="noStrike">
              <a:latin typeface="Arial"/>
            </a:endParaRPr>
          </a:p>
          <a:p>
            <a:pPr marL="7772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–  </a:t>
            </a: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Parameter-matched MLP baseline on identical multi-modal features</a:t>
            </a:r>
            <a:endParaRPr b="0" lang="en-US" sz="1600" spc="-1" strike="noStrike">
              <a:latin typeface="Arial"/>
            </a:endParaRPr>
          </a:p>
          <a:p>
            <a:pPr marL="3200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Cross-dataset generalization test: LIDC-IDRI → LUNA25</a:t>
            </a:r>
            <a:endParaRPr b="0" lang="en-US" sz="1800" spc="-1" strike="noStrike">
              <a:latin typeface="Arial"/>
            </a:endParaRPr>
          </a:p>
          <a:p>
            <a:pPr marL="3200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Validation against pathology-confirmed subset (~157 nodules with biopsy / surgery ground truth)</a:t>
            </a:r>
            <a:endParaRPr b="0" lang="en-US" sz="1800" spc="-1" strike="noStrike">
              <a:latin typeface="Arial"/>
            </a:endParaRPr>
          </a:p>
          <a:p>
            <a:pPr marL="3200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Keep architecture within an RTX 3060 (12 GB VRAM) training budget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0" name="TextBox 4"/>
          <p:cNvSpPr/>
          <p:nvPr/>
        </p:nvSpPr>
        <p:spPr>
          <a:xfrm>
            <a:off x="10974240" y="6492240"/>
            <a:ext cx="5454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b6b6b"/>
                </a:solidFill>
                <a:latin typeface="Calibri"/>
              </a:rPr>
              <a:t>2 / 20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Box 1"/>
          <p:cNvSpPr/>
          <p:nvPr/>
        </p:nvSpPr>
        <p:spPr>
          <a:xfrm>
            <a:off x="457200" y="320040"/>
            <a:ext cx="112467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000" spc="-1" strike="noStrike">
                <a:solidFill>
                  <a:srgbClr val="1f4e79"/>
                </a:solidFill>
                <a:latin typeface="Calibri"/>
              </a:rPr>
              <a:t>Background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52" name="Rectangle 2"/>
          <p:cNvSpPr/>
          <p:nvPr/>
        </p:nvSpPr>
        <p:spPr>
          <a:xfrm>
            <a:off x="457200" y="1143000"/>
            <a:ext cx="1462680" cy="45360"/>
          </a:xfrm>
          <a:prstGeom prst="rect">
            <a:avLst/>
          </a:prstGeom>
          <a:solidFill>
            <a:srgbClr val="2e75b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3" name="TextBox 3"/>
          <p:cNvSpPr/>
          <p:nvPr/>
        </p:nvSpPr>
        <p:spPr>
          <a:xfrm>
            <a:off x="548640" y="1371600"/>
            <a:ext cx="11063880" cy="20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3200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Lung cancer is the leading cause of cancer mortality worldwide</a:t>
            </a:r>
            <a:endParaRPr b="0" lang="en-US" sz="1800" spc="-1" strike="noStrike">
              <a:latin typeface="Arial"/>
            </a:endParaRPr>
          </a:p>
          <a:p>
            <a:pPr marL="3200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CT-based nodule classifiers reach AUC 0.88 – 0.96 on LIDC-IDRI</a:t>
            </a:r>
            <a:endParaRPr b="0" lang="en-US" sz="1800" spc="-1" strike="noStrike">
              <a:latin typeface="Arial"/>
            </a:endParaRPr>
          </a:p>
          <a:p>
            <a:pPr marL="7772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–  </a:t>
            </a: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But they classify each nodule independently, ignoring inter-case similarity</a:t>
            </a:r>
            <a:endParaRPr b="0" lang="en-US" sz="1600" spc="-1" strike="noStrike">
              <a:latin typeface="Arial"/>
            </a:endParaRPr>
          </a:p>
          <a:p>
            <a:pPr marL="3200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Graph Neural Networks propagate information across similar cases via message passing</a:t>
            </a:r>
            <a:endParaRPr b="0" lang="en-US" sz="1800" spc="-1" strike="noStrike">
              <a:latin typeface="Arial"/>
            </a:endParaRPr>
          </a:p>
          <a:p>
            <a:pPr marL="7772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–  </a:t>
            </a: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Patient-similarity GNNs help in cancer subtyping and prognosis</a:t>
            </a:r>
            <a:endParaRPr b="0" lang="en-US" sz="1600" spc="-1" strike="noStrike">
              <a:latin typeface="Arial"/>
            </a:endParaRPr>
          </a:p>
          <a:p>
            <a:pPr marL="7772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–  </a:t>
            </a: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Not yet applied to LIDC lung nodule malignancy classification on CT — this project fills that gap</a:t>
            </a:r>
            <a:endParaRPr b="0" lang="en-US" sz="1600" spc="-1" strike="noStrike">
              <a:latin typeface="Arial"/>
            </a:endParaRPr>
          </a:p>
          <a:p>
            <a:pPr marL="3200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Closest prior work: Ma et al. 2023 (AUC 0.9629 on LIDC)</a:t>
            </a:r>
            <a:endParaRPr b="0" lang="en-US" sz="1800" spc="-1" strike="noStrike">
              <a:latin typeface="Arial"/>
            </a:endParaRPr>
          </a:p>
          <a:p>
            <a:pPr marL="7772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–  </a:t>
            </a: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Uses GCN for cross-CNN feature fusion, not for node classification on a similarity graph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54" name="TextBox 4"/>
          <p:cNvSpPr/>
          <p:nvPr/>
        </p:nvSpPr>
        <p:spPr>
          <a:xfrm>
            <a:off x="10974240" y="6492240"/>
            <a:ext cx="5454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b6b6b"/>
                </a:solidFill>
                <a:latin typeface="Calibri"/>
              </a:rPr>
              <a:t>3 / 20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1"/>
          <p:cNvSpPr/>
          <p:nvPr/>
        </p:nvSpPr>
        <p:spPr>
          <a:xfrm>
            <a:off x="457200" y="320040"/>
            <a:ext cx="112467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000" spc="-1" strike="noStrike">
                <a:solidFill>
                  <a:srgbClr val="1f4e79"/>
                </a:solidFill>
                <a:latin typeface="Calibri"/>
              </a:rPr>
              <a:t>Proposed Approach — Two-Stage Pipeline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56" name="Rectangle 2"/>
          <p:cNvSpPr/>
          <p:nvPr/>
        </p:nvSpPr>
        <p:spPr>
          <a:xfrm>
            <a:off x="457200" y="1143000"/>
            <a:ext cx="1462680" cy="45360"/>
          </a:xfrm>
          <a:prstGeom prst="rect">
            <a:avLst/>
          </a:prstGeom>
          <a:solidFill>
            <a:srgbClr val="2e75b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7" name="TextBox 3"/>
          <p:cNvSpPr/>
          <p:nvPr/>
        </p:nvSpPr>
        <p:spPr>
          <a:xfrm>
            <a:off x="548640" y="1371600"/>
            <a:ext cx="5394960" cy="48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3200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Stage 1 — frozen multi-modal feature extraction</a:t>
            </a:r>
            <a:endParaRPr b="0" lang="en-US" sz="1800" spc="-1" strike="noStrike">
              <a:latin typeface="Arial"/>
            </a:endParaRPr>
          </a:p>
          <a:p>
            <a:pPr marL="7772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–  </a:t>
            </a: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Image: 48³-voxel CT patch → frozen Med3D ResNet-50 → 2048-D pooled features → Linear → 256-D</a:t>
            </a:r>
            <a:endParaRPr b="0" lang="en-US" sz="1600" spc="-1" strike="noStrike">
              <a:latin typeface="Arial"/>
            </a:endParaRPr>
          </a:p>
          <a:p>
            <a:pPr marL="7772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–  </a:t>
            </a: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Clinical: 8 LIDC-IDRI attributes → per-attribute nn.Embedding tables → 64-D</a:t>
            </a:r>
            <a:endParaRPr b="0" lang="en-US" sz="1600" spc="-1" strike="noStrike">
              <a:latin typeface="Arial"/>
            </a:endParaRPr>
          </a:p>
          <a:p>
            <a:pPr marL="7772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–  </a:t>
            </a: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Spatial: nodule centroid (x, y, z) in mm → sinusoidal positional encoding → 48-D</a:t>
            </a:r>
            <a:endParaRPr b="0" lang="en-US" sz="1600" spc="-1" strike="noStrike">
              <a:latin typeface="Arial"/>
            </a:endParaRPr>
          </a:p>
          <a:p>
            <a:pPr marL="7772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–  </a:t>
            </a: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Concatenate → LayerNorm → Linear → 256-D unified node feature</a:t>
            </a:r>
            <a:endParaRPr b="0" lang="en-US" sz="1600" spc="-1" strike="noStrike">
              <a:latin typeface="Arial"/>
            </a:endParaRPr>
          </a:p>
          <a:p>
            <a:pPr marL="3200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Stage 2 — trained node-classification head</a:t>
            </a:r>
            <a:endParaRPr b="0" lang="en-US" sz="1800" spc="-1" strike="noStrike">
              <a:latin typeface="Arial"/>
            </a:endParaRPr>
          </a:p>
          <a:p>
            <a:pPr marL="7772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–  </a:t>
            </a: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GCN: 2 × GCNConv layers over the cohort-wide KNN graph, with dropout + Linear head</a:t>
            </a:r>
            <a:endParaRPr b="0" lang="en-US" sz="1600" spc="-1" strike="noStrike">
              <a:latin typeface="Arial"/>
            </a:endParaRPr>
          </a:p>
          <a:p>
            <a:pPr marL="7772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–  </a:t>
            </a: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MLP baseline: same widths and dropout, no graph structure — isolates the graph effect</a:t>
            </a:r>
            <a:endParaRPr b="0" lang="en-US" sz="1600" spc="-1" strike="noStrike">
              <a:latin typeface="Arial"/>
            </a:endParaRPr>
          </a:p>
          <a:p>
            <a:pPr marL="3200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Training: weighted cross-entropy, Adam (lr 1e-3), 5-fold patient-level CV, early stop on val AUC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8" name="TextBox 4"/>
          <p:cNvSpPr/>
          <p:nvPr/>
        </p:nvSpPr>
        <p:spPr>
          <a:xfrm>
            <a:off x="10974240" y="6492240"/>
            <a:ext cx="5454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b6b6b"/>
                </a:solidFill>
                <a:latin typeface="Calibri"/>
              </a:rPr>
              <a:t>4 / 20</a:t>
            </a:r>
            <a:endParaRPr b="0" lang="en-US" sz="1000" spc="-1" strike="noStrike">
              <a:latin typeface="Arial"/>
            </a:endParaRPr>
          </a:p>
        </p:txBody>
      </p:sp>
      <p:pic>
        <p:nvPicPr>
          <p:cNvPr id="59" name="Picture 2" descr="architecture_exp1.png"/>
          <p:cNvPicPr/>
          <p:nvPr/>
        </p:nvPicPr>
        <p:blipFill>
          <a:blip r:embed="rId1"/>
          <a:stretch/>
        </p:blipFill>
        <p:spPr>
          <a:xfrm>
            <a:off x="6568920" y="1371600"/>
            <a:ext cx="4632480" cy="438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1"/>
          <p:cNvSpPr/>
          <p:nvPr/>
        </p:nvSpPr>
        <p:spPr>
          <a:xfrm>
            <a:off x="457200" y="320040"/>
            <a:ext cx="112467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000" spc="-1" strike="noStrike">
                <a:solidFill>
                  <a:srgbClr val="1f4e79"/>
                </a:solidFill>
                <a:latin typeface="Calibri"/>
              </a:rPr>
              <a:t>Architecture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61" name="Rectangle 2"/>
          <p:cNvSpPr/>
          <p:nvPr/>
        </p:nvSpPr>
        <p:spPr>
          <a:xfrm>
            <a:off x="457200" y="1143000"/>
            <a:ext cx="1462680" cy="45360"/>
          </a:xfrm>
          <a:prstGeom prst="rect">
            <a:avLst/>
          </a:prstGeom>
          <a:solidFill>
            <a:srgbClr val="2e75b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62" name="Picture 3" descr="architecture_exp1.png"/>
          <p:cNvPicPr/>
          <p:nvPr/>
        </p:nvPicPr>
        <p:blipFill>
          <a:blip r:embed="rId1"/>
          <a:stretch/>
        </p:blipFill>
        <p:spPr>
          <a:xfrm>
            <a:off x="3296880" y="1325880"/>
            <a:ext cx="5597640" cy="5303160"/>
          </a:xfrm>
          <a:prstGeom prst="rect">
            <a:avLst/>
          </a:prstGeom>
          <a:ln w="0">
            <a:noFill/>
          </a:ln>
        </p:spPr>
      </p:pic>
      <p:sp>
        <p:nvSpPr>
          <p:cNvPr id="63" name="TextBox 4"/>
          <p:cNvSpPr/>
          <p:nvPr/>
        </p:nvSpPr>
        <p:spPr>
          <a:xfrm>
            <a:off x="10974240" y="6492240"/>
            <a:ext cx="5454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b6b6b"/>
                </a:solidFill>
                <a:latin typeface="Calibri"/>
              </a:rPr>
              <a:t>5 / 20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Box 1"/>
          <p:cNvSpPr/>
          <p:nvPr/>
        </p:nvSpPr>
        <p:spPr>
          <a:xfrm>
            <a:off x="457200" y="320040"/>
            <a:ext cx="112467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000" spc="-1" strike="noStrike">
                <a:solidFill>
                  <a:srgbClr val="1f4e79"/>
                </a:solidFill>
                <a:latin typeface="Calibri"/>
              </a:rPr>
              <a:t>Datasets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65" name="Rectangle 2"/>
          <p:cNvSpPr/>
          <p:nvPr/>
        </p:nvSpPr>
        <p:spPr>
          <a:xfrm>
            <a:off x="457200" y="1143000"/>
            <a:ext cx="1462680" cy="45360"/>
          </a:xfrm>
          <a:prstGeom prst="rect">
            <a:avLst/>
          </a:prstGeom>
          <a:solidFill>
            <a:srgbClr val="2e75b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6" name="TextBox 3"/>
          <p:cNvSpPr/>
          <p:nvPr/>
        </p:nvSpPr>
        <p:spPr>
          <a:xfrm>
            <a:off x="548640" y="1371600"/>
            <a:ext cx="6766560" cy="422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3200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LIDC-IDRI (primary — training + within-dataset eval)</a:t>
            </a:r>
            <a:endParaRPr b="0" lang="en-US" sz="1800" spc="-1" strike="noStrike">
              <a:latin typeface="Arial"/>
            </a:endParaRPr>
          </a:p>
          <a:p>
            <a:pPr marL="7772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–  </a:t>
            </a: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1,010 patients  •  1,308 CT studies  •  ~133 GB DICOM</a:t>
            </a:r>
            <a:endParaRPr b="0" lang="en-US" sz="1600" spc="-1" strike="noStrike">
              <a:latin typeface="Arial"/>
            </a:endParaRPr>
          </a:p>
          <a:p>
            <a:pPr marL="7772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–  ≈ </a:t>
            </a: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7,371 nodules ≥ 3 mm, up to 4 radiologist readings per nodule</a:t>
            </a:r>
            <a:endParaRPr b="0" lang="en-US" sz="1600" spc="-1" strike="noStrike">
              <a:latin typeface="Arial"/>
            </a:endParaRPr>
          </a:p>
          <a:p>
            <a:pPr marL="7772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–  </a:t>
            </a: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8 descriptive attributes + 1-5 malignancy rating per reader per nodule</a:t>
            </a:r>
            <a:endParaRPr b="0" lang="en-US" sz="1600" spc="-1" strike="noStrike">
              <a:latin typeface="Arial"/>
            </a:endParaRPr>
          </a:p>
          <a:p>
            <a:pPr marL="7772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–  </a:t>
            </a: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~157 pathology-confirmed diagnoses (biopsy / surgery / follow-up)</a:t>
            </a:r>
            <a:endParaRPr b="0" lang="en-US" sz="1600" spc="-1" strike="noStrike">
              <a:latin typeface="Arial"/>
            </a:endParaRPr>
          </a:p>
          <a:p>
            <a:pPr marL="7772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–  </a:t>
            </a: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After preprocessing + binarization: 1,128 nodules across 588 patients (805 benign / 323 malignant)</a:t>
            </a:r>
            <a:endParaRPr b="0" lang="en-US" sz="1600" spc="-1" strike="noStrike">
              <a:latin typeface="Arial"/>
            </a:endParaRPr>
          </a:p>
          <a:p>
            <a:pPr marL="777240" indent="-27432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600" spc="-1" strike="noStrike">
              <a:latin typeface="Arial"/>
            </a:endParaRPr>
          </a:p>
          <a:p>
            <a:pPr marL="3200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LUNA25 (secondary — cross-dataset generalization, Experiment 4)</a:t>
            </a:r>
            <a:endParaRPr b="0" lang="en-US" sz="1800" spc="-1" strike="noStrike">
              <a:latin typeface="Arial"/>
            </a:endParaRPr>
          </a:p>
          <a:p>
            <a:pPr marL="7772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–  </a:t>
            </a: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4,096 CT exams  •  6,163 nodules from National Lung Screening Trial</a:t>
            </a:r>
            <a:endParaRPr b="0" lang="en-US" sz="1600" spc="-1" strike="noStrike">
              <a:latin typeface="Arial"/>
            </a:endParaRPr>
          </a:p>
          <a:p>
            <a:pPr marL="7772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–  </a:t>
            </a: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Binary malignancy labels from clinical follow-up</a:t>
            </a:r>
            <a:endParaRPr b="0" lang="en-US" sz="1600" spc="-1" strike="noStrike">
              <a:latin typeface="Arial"/>
            </a:endParaRPr>
          </a:p>
          <a:p>
            <a:pPr marL="7772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–  </a:t>
            </a: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Released for MICCAI 2025 (Zenodo, CC BY 4.0)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67" name="TextBox 4"/>
          <p:cNvSpPr/>
          <p:nvPr/>
        </p:nvSpPr>
        <p:spPr>
          <a:xfrm>
            <a:off x="10974240" y="6492240"/>
            <a:ext cx="5454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b6b6b"/>
                </a:solidFill>
                <a:latin typeface="Calibri"/>
              </a:rPr>
              <a:t>6 / 20</a:t>
            </a:r>
            <a:endParaRPr b="0" lang="en-US" sz="1000" spc="-1" strike="noStrike">
              <a:latin typeface="Arial"/>
            </a:endParaRPr>
          </a:p>
        </p:txBody>
      </p:sp>
      <p:pic>
        <p:nvPicPr>
          <p:cNvPr id="68" name="" descr=""/>
          <p:cNvPicPr/>
          <p:nvPr/>
        </p:nvPicPr>
        <p:blipFill>
          <a:blip r:embed="rId1"/>
          <a:stretch/>
        </p:blipFill>
        <p:spPr>
          <a:xfrm>
            <a:off x="7817760" y="652320"/>
            <a:ext cx="3886200" cy="3233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Box 1"/>
          <p:cNvSpPr/>
          <p:nvPr/>
        </p:nvSpPr>
        <p:spPr>
          <a:xfrm>
            <a:off x="457200" y="320040"/>
            <a:ext cx="112467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000" spc="-1" strike="noStrike">
                <a:solidFill>
                  <a:srgbClr val="1f4e79"/>
                </a:solidFill>
                <a:latin typeface="Calibri"/>
              </a:rPr>
              <a:t>Dataset Visualization — Nodule Size Distribution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70" name="Rectangle 2"/>
          <p:cNvSpPr/>
          <p:nvPr/>
        </p:nvSpPr>
        <p:spPr>
          <a:xfrm>
            <a:off x="457200" y="1143000"/>
            <a:ext cx="1462680" cy="45360"/>
          </a:xfrm>
          <a:prstGeom prst="rect">
            <a:avLst/>
          </a:prstGeom>
          <a:solidFill>
            <a:srgbClr val="2e75b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1" name="Rectangle 3"/>
          <p:cNvSpPr/>
          <p:nvPr/>
        </p:nvSpPr>
        <p:spPr>
          <a:xfrm>
            <a:off x="1371600" y="1463040"/>
            <a:ext cx="9445320" cy="4845960"/>
          </a:xfrm>
          <a:prstGeom prst="rect">
            <a:avLst/>
          </a:prstGeom>
          <a:solidFill>
            <a:srgbClr val="f5f5f5"/>
          </a:solidFill>
          <a:ln w="19050">
            <a:solidFill>
              <a:srgbClr val="b0b0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8288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6b6b6b"/>
                </a:solidFill>
                <a:latin typeface="Calibri"/>
              </a:rPr>
              <a:t>Histogram/visualization of nodule diameters across LIDC-IDRI (to be added after preprocess run)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72" name="TextBox 4"/>
          <p:cNvSpPr/>
          <p:nvPr/>
        </p:nvSpPr>
        <p:spPr>
          <a:xfrm>
            <a:off x="10974240" y="6492240"/>
            <a:ext cx="5454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b6b6b"/>
                </a:solidFill>
                <a:latin typeface="Calibri"/>
              </a:rPr>
              <a:t>7 / 20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Box 1"/>
          <p:cNvSpPr/>
          <p:nvPr/>
        </p:nvSpPr>
        <p:spPr>
          <a:xfrm>
            <a:off x="457200" y="320040"/>
            <a:ext cx="112467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000" spc="-1" strike="noStrike">
                <a:solidFill>
                  <a:srgbClr val="1f4e79"/>
                </a:solidFill>
                <a:latin typeface="Calibri"/>
              </a:rPr>
              <a:t>Dataset Visualization — Example 48³ CT Patches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74" name="Rectangle 2"/>
          <p:cNvSpPr/>
          <p:nvPr/>
        </p:nvSpPr>
        <p:spPr>
          <a:xfrm>
            <a:off x="457200" y="1143000"/>
            <a:ext cx="1462680" cy="45360"/>
          </a:xfrm>
          <a:prstGeom prst="rect">
            <a:avLst/>
          </a:prstGeom>
          <a:solidFill>
            <a:srgbClr val="2e75b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5" name="Rectangle 3"/>
          <p:cNvSpPr/>
          <p:nvPr/>
        </p:nvSpPr>
        <p:spPr>
          <a:xfrm>
            <a:off x="1371600" y="1463040"/>
            <a:ext cx="9445320" cy="4845960"/>
          </a:xfrm>
          <a:prstGeom prst="rect">
            <a:avLst/>
          </a:prstGeom>
          <a:solidFill>
            <a:srgbClr val="f5f5f5"/>
          </a:solidFill>
          <a:ln w="19050">
            <a:solidFill>
              <a:srgbClr val="b0b0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8288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6b6b6b"/>
                </a:solidFill>
                <a:latin typeface="Calibri"/>
              </a:rPr>
              <a:t>Grid of representative benign and malignant patches (axial mid-slice)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76" name="TextBox 4"/>
          <p:cNvSpPr/>
          <p:nvPr/>
        </p:nvSpPr>
        <p:spPr>
          <a:xfrm>
            <a:off x="10974240" y="6492240"/>
            <a:ext cx="5454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b6b6b"/>
                </a:solidFill>
                <a:latin typeface="Calibri"/>
              </a:rPr>
              <a:t>8 / 20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Box 1"/>
          <p:cNvSpPr/>
          <p:nvPr/>
        </p:nvSpPr>
        <p:spPr>
          <a:xfrm>
            <a:off x="457200" y="320040"/>
            <a:ext cx="112467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000" spc="-1" strike="noStrike">
                <a:solidFill>
                  <a:srgbClr val="1f4e79"/>
                </a:solidFill>
                <a:latin typeface="Calibri"/>
              </a:rPr>
              <a:t>Dataset Visualization — Attribute Correlations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78" name="Rectangle 2"/>
          <p:cNvSpPr/>
          <p:nvPr/>
        </p:nvSpPr>
        <p:spPr>
          <a:xfrm>
            <a:off x="457200" y="1143000"/>
            <a:ext cx="1462680" cy="45360"/>
          </a:xfrm>
          <a:prstGeom prst="rect">
            <a:avLst/>
          </a:prstGeom>
          <a:solidFill>
            <a:srgbClr val="2e75b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9" name="Rectangle 3"/>
          <p:cNvSpPr/>
          <p:nvPr/>
        </p:nvSpPr>
        <p:spPr>
          <a:xfrm>
            <a:off x="1371600" y="1463040"/>
            <a:ext cx="9445320" cy="4845960"/>
          </a:xfrm>
          <a:prstGeom prst="rect">
            <a:avLst/>
          </a:prstGeom>
          <a:solidFill>
            <a:srgbClr val="f5f5f5"/>
          </a:solidFill>
          <a:ln w="19050">
            <a:solidFill>
              <a:srgbClr val="b0b0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8288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6b6b6b"/>
                </a:solidFill>
                <a:latin typeface="Calibri"/>
              </a:rPr>
              <a:t>Heatmap of the 8 LIDC attribute means vs. malignancy label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0" name="TextBox 4"/>
          <p:cNvSpPr/>
          <p:nvPr/>
        </p:nvSpPr>
        <p:spPr>
          <a:xfrm>
            <a:off x="10974240" y="6492240"/>
            <a:ext cx="5454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b6b6b"/>
                </a:solidFill>
                <a:latin typeface="Calibri"/>
              </a:rPr>
              <a:t>9 / 20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Box 1"/>
          <p:cNvSpPr/>
          <p:nvPr/>
        </p:nvSpPr>
        <p:spPr>
          <a:xfrm>
            <a:off x="457200" y="320040"/>
            <a:ext cx="112467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000" spc="-1" strike="noStrike">
                <a:solidFill>
                  <a:srgbClr val="1f4e79"/>
                </a:solidFill>
                <a:latin typeface="Calibri"/>
              </a:rPr>
              <a:t>Preprocessing &amp; Data Cleaning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82" name="Rectangle 2"/>
          <p:cNvSpPr/>
          <p:nvPr/>
        </p:nvSpPr>
        <p:spPr>
          <a:xfrm>
            <a:off x="457200" y="1143000"/>
            <a:ext cx="1462680" cy="45360"/>
          </a:xfrm>
          <a:prstGeom prst="rect">
            <a:avLst/>
          </a:prstGeom>
          <a:solidFill>
            <a:srgbClr val="2e75b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3" name="TextBox 3"/>
          <p:cNvSpPr/>
          <p:nvPr/>
        </p:nvSpPr>
        <p:spPr>
          <a:xfrm>
            <a:off x="548640" y="1371600"/>
            <a:ext cx="11063880" cy="334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3200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XML annotations — stdlib ElementTree parser (no pylidc)</a:t>
            </a:r>
            <a:endParaRPr b="0" lang="en-US" sz="1800" spc="-1" strike="noStrike">
              <a:latin typeface="Arial"/>
            </a:endParaRPr>
          </a:p>
          <a:p>
            <a:pPr marL="7772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–  </a:t>
            </a: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Malignancy rating tracked in a separate field from the 8 feature attributes to prevent label leakage</a:t>
            </a:r>
            <a:endParaRPr b="0" lang="en-US" sz="1600" spc="-1" strike="noStrike">
              <a:latin typeface="Arial"/>
            </a:endParaRPr>
          </a:p>
          <a:p>
            <a:pPr marL="3200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DICOM series loading via pydicom</a:t>
            </a:r>
            <a:endParaRPr b="0" lang="en-US" sz="1800" spc="-1" strike="noStrike">
              <a:latin typeface="Arial"/>
            </a:endParaRPr>
          </a:p>
          <a:p>
            <a:pPr marL="7772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–  </a:t>
            </a: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Slices ordered by physical Z (ImagePositionPatient[2]) — robust to vendor-reversed InstanceNumber</a:t>
            </a:r>
            <a:endParaRPr b="0" lang="en-US" sz="1600" spc="-1" strike="noStrike">
              <a:latin typeface="Arial"/>
            </a:endParaRPr>
          </a:p>
          <a:p>
            <a:pPr marL="7772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–  </a:t>
            </a: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Per-slice RescaleSlope / RescaleIntercept applied to get Hounsfield Units</a:t>
            </a:r>
            <a:endParaRPr b="0" lang="en-US" sz="1600" spc="-1" strike="noStrike">
              <a:latin typeface="Arial"/>
            </a:endParaRPr>
          </a:p>
          <a:p>
            <a:pPr marL="3200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Cross-reader nodule clustering</a:t>
            </a:r>
            <a:endParaRPr b="0" lang="en-US" sz="1800" spc="-1" strike="noStrike">
              <a:latin typeface="Arial"/>
            </a:endParaRPr>
          </a:p>
          <a:p>
            <a:pPr marL="7772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–  </a:t>
            </a: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Greedy centroid-distance match (8 mm threshold) across up to 4 radiologists per scan</a:t>
            </a:r>
            <a:endParaRPr b="0" lang="en-US" sz="1600" spc="-1" strike="noStrike">
              <a:latin typeface="Arial"/>
            </a:endParaRPr>
          </a:p>
          <a:p>
            <a:pPr marL="7772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–  </a:t>
            </a: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Follow-up: 6 / 1,128 clusters have &gt;4 merged readers → retighten or switch to IoU-based clustering</a:t>
            </a:r>
            <a:endParaRPr b="0" lang="en-US" sz="1600" spc="-1" strike="noStrike">
              <a:latin typeface="Arial"/>
            </a:endParaRPr>
          </a:p>
          <a:p>
            <a:pPr marL="3200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Patch extraction &amp; normalization (feature-time)</a:t>
            </a:r>
            <a:endParaRPr b="0" lang="en-US" sz="1800" spc="-1" strike="noStrike">
              <a:latin typeface="Arial"/>
            </a:endParaRPr>
          </a:p>
          <a:p>
            <a:pPr marL="7772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–  </a:t>
            </a: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48³-voxel patches centered on each nodule, HU-clipped to [-1000, 400] and normalized to [0, 1]</a:t>
            </a:r>
            <a:endParaRPr b="0" lang="en-US" sz="1600" spc="-1" strike="noStrike">
              <a:latin typeface="Arial"/>
            </a:endParaRPr>
          </a:p>
          <a:p>
            <a:pPr marL="7772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–  </a:t>
            </a: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Resampled to isotropic 1 mm³ before Med3D inference</a:t>
            </a:r>
            <a:endParaRPr b="0" lang="en-US" sz="1600" spc="-1" strike="noStrike">
              <a:latin typeface="Arial"/>
            </a:endParaRPr>
          </a:p>
          <a:p>
            <a:pPr marL="3200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Label binarization: mean malignancy ≤ 2 → benign (0), ≥ 4 → malignant (1), ~3 excluded</a:t>
            </a:r>
            <a:endParaRPr b="0" lang="en-US" sz="1800" spc="-1" strike="noStrike">
              <a:latin typeface="Arial"/>
            </a:endParaRPr>
          </a:p>
          <a:p>
            <a:pPr marL="3200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Patient-level 5-fold StratifiedGroupKFold — no patient straddles train / val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4" name="TextBox 4"/>
          <p:cNvSpPr/>
          <p:nvPr/>
        </p:nvSpPr>
        <p:spPr>
          <a:xfrm>
            <a:off x="10933920" y="6492240"/>
            <a:ext cx="6260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b6b6b"/>
                </a:solidFill>
                <a:latin typeface="Calibri"/>
              </a:rPr>
              <a:t>10 / 20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Box 1"/>
          <p:cNvSpPr/>
          <p:nvPr/>
        </p:nvSpPr>
        <p:spPr>
          <a:xfrm>
            <a:off x="457200" y="320040"/>
            <a:ext cx="112467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000" spc="-1" strike="noStrike">
                <a:solidFill>
                  <a:srgbClr val="1f4e79"/>
                </a:solidFill>
                <a:latin typeface="Calibri"/>
              </a:rPr>
              <a:t>What's Novel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86" name="Rectangle 2"/>
          <p:cNvSpPr/>
          <p:nvPr/>
        </p:nvSpPr>
        <p:spPr>
          <a:xfrm>
            <a:off x="457200" y="1143000"/>
            <a:ext cx="1462680" cy="45360"/>
          </a:xfrm>
          <a:prstGeom prst="rect">
            <a:avLst/>
          </a:prstGeom>
          <a:solidFill>
            <a:srgbClr val="2e75b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7" name="TextBox 3"/>
          <p:cNvSpPr/>
          <p:nvPr/>
        </p:nvSpPr>
        <p:spPr>
          <a:xfrm>
            <a:off x="548640" y="1371600"/>
            <a:ext cx="6309360" cy="469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3200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First node-classification GCN applied to LIDC malignancy</a:t>
            </a:r>
            <a:endParaRPr b="0" lang="en-US" sz="1800" spc="-1" strike="noStrike">
              <a:latin typeface="Arial"/>
            </a:endParaRPr>
          </a:p>
          <a:p>
            <a:pPr marL="7772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–  </a:t>
            </a: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Prior GCN work on LIDC uses the GCN for cross-CNN feature fusion, not for inter-nodule reasoning</a:t>
            </a:r>
            <a:endParaRPr b="0" lang="en-US" sz="1600" spc="-1" strike="noStrike">
              <a:latin typeface="Arial"/>
            </a:endParaRPr>
          </a:p>
          <a:p>
            <a:pPr marL="3200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Multi-modal node features fuse three complementary sources</a:t>
            </a:r>
            <a:endParaRPr b="0" lang="en-US" sz="1800" spc="-1" strike="noStrike">
              <a:latin typeface="Arial"/>
            </a:endParaRPr>
          </a:p>
          <a:p>
            <a:pPr marL="7772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–  </a:t>
            </a: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Imaging (Med3D), clinical (8 radiologist attributes), spatial (sinusoidal positional encoding)</a:t>
            </a:r>
            <a:endParaRPr b="0" lang="en-US" sz="1600" spc="-1" strike="noStrike">
              <a:latin typeface="Arial"/>
            </a:endParaRPr>
          </a:p>
          <a:p>
            <a:pPr marL="3200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Inductive evaluation protocol for the cohort-wide graph</a:t>
            </a:r>
            <a:endParaRPr b="0" lang="en-US" sz="1800" spc="-1" strike="noStrike">
              <a:latin typeface="Arial"/>
            </a:endParaRPr>
          </a:p>
          <a:p>
            <a:pPr marL="7772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–  </a:t>
            </a: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Edges fit on train-only nodes; val nodes inserted at eval time with edges into train neighbors only</a:t>
            </a:r>
            <a:endParaRPr b="0" lang="en-US" sz="1600" spc="-1" strike="noStrike">
              <a:latin typeface="Arial"/>
            </a:endParaRPr>
          </a:p>
          <a:p>
            <a:pPr marL="7772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–  </a:t>
            </a: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No val-to-val edges — eliminates the standard transductive-leak failure mode under patient-level CV</a:t>
            </a:r>
            <a:endParaRPr b="0" lang="en-US" sz="1600" spc="-1" strike="noStrike">
              <a:latin typeface="Arial"/>
            </a:endParaRPr>
          </a:p>
          <a:p>
            <a:pPr marL="3200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Parameter-matched MLP control isolates the effect of message passing from raw capacity</a:t>
            </a:r>
            <a:endParaRPr b="0" lang="en-US" sz="1800" spc="-1" strike="noStrike">
              <a:latin typeface="Arial"/>
            </a:endParaRPr>
          </a:p>
          <a:p>
            <a:pPr marL="3200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Committed encoder follow-up: FMCIB (Aerts lab, 2024) as a second encoder axis in Experiment 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8" name="TextBox 4"/>
          <p:cNvSpPr/>
          <p:nvPr/>
        </p:nvSpPr>
        <p:spPr>
          <a:xfrm>
            <a:off x="10933920" y="6492240"/>
            <a:ext cx="6260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b6b6b"/>
                </a:solidFill>
                <a:latin typeface="Calibri"/>
              </a:rPr>
              <a:t>11 / 20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Box 1"/>
          <p:cNvSpPr/>
          <p:nvPr/>
        </p:nvSpPr>
        <p:spPr>
          <a:xfrm>
            <a:off x="457200" y="320040"/>
            <a:ext cx="112467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000" spc="-1" strike="noStrike">
                <a:solidFill>
                  <a:srgbClr val="1f4e79"/>
                </a:solidFill>
                <a:latin typeface="Calibri"/>
              </a:rPr>
              <a:t>Experiments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90" name="Rectangle 2"/>
          <p:cNvSpPr/>
          <p:nvPr/>
        </p:nvSpPr>
        <p:spPr>
          <a:xfrm>
            <a:off x="457200" y="1143000"/>
            <a:ext cx="1462680" cy="45360"/>
          </a:xfrm>
          <a:prstGeom prst="rect">
            <a:avLst/>
          </a:prstGeom>
          <a:solidFill>
            <a:srgbClr val="2e75b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1" name="TextBox 3"/>
          <p:cNvSpPr/>
          <p:nvPr/>
        </p:nvSpPr>
        <p:spPr>
          <a:xfrm>
            <a:off x="548640" y="1371600"/>
            <a:ext cx="11063880" cy="255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3200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Experiment 1 — GCN vs. MLP baseline on LIDC-IDRI</a:t>
            </a:r>
            <a:endParaRPr b="0" lang="en-US" sz="1800" spc="-1" strike="noStrike">
              <a:latin typeface="Arial"/>
            </a:endParaRPr>
          </a:p>
          <a:p>
            <a:pPr marL="7772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–  </a:t>
            </a: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Status: pipeline complete, training blocked on Med3D checkpoint download</a:t>
            </a:r>
            <a:endParaRPr b="0" lang="en-US" sz="1600" spc="-1" strike="noStrike">
              <a:latin typeface="Arial"/>
            </a:endParaRPr>
          </a:p>
          <a:p>
            <a:pPr marL="3200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Experiment 2 — Graph construction ablation</a:t>
            </a:r>
            <a:endParaRPr b="0" lang="en-US" sz="1800" spc="-1" strike="noStrike">
              <a:latin typeface="Arial"/>
            </a:endParaRPr>
          </a:p>
          <a:p>
            <a:pPr marL="7772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–  </a:t>
            </a: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8-cell grid: k ∈ {5, 10, 15, 20} × metric ∈ {cosine, euclidean}</a:t>
            </a:r>
            <a:endParaRPr b="0" lang="en-US" sz="1600" spc="-1" strike="noStrike">
              <a:latin typeface="Arial"/>
            </a:endParaRPr>
          </a:p>
          <a:p>
            <a:pPr marL="7772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–  </a:t>
            </a: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Best (k, metric) adopted as default for downstream experiments</a:t>
            </a:r>
            <a:endParaRPr b="0" lang="en-US" sz="1600" spc="-1" strike="noStrike">
              <a:latin typeface="Arial"/>
            </a:endParaRPr>
          </a:p>
          <a:p>
            <a:pPr marL="3200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Experiment 3 — Feature-modality × encoder ablation</a:t>
            </a:r>
            <a:endParaRPr b="0" lang="en-US" sz="1800" spc="-1" strike="noStrike">
              <a:latin typeface="Arial"/>
            </a:endParaRPr>
          </a:p>
          <a:p>
            <a:pPr marL="7772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–  </a:t>
            </a: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6-cell 3×2 grid: {image, image+attrs, image+attrs+spatial} × {Med3D, FMCIB}</a:t>
            </a:r>
            <a:endParaRPr b="0" lang="en-US" sz="1600" spc="-1" strike="noStrike">
              <a:latin typeface="Arial"/>
            </a:endParaRPr>
          </a:p>
          <a:p>
            <a:pPr marL="7772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–  </a:t>
            </a: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Pathology-confirmed subset is primary validation axis</a:t>
            </a:r>
            <a:endParaRPr b="0" lang="en-US" sz="1600" spc="-1" strike="noStrike">
              <a:latin typeface="Arial"/>
            </a:endParaRPr>
          </a:p>
          <a:p>
            <a:pPr marL="3200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Experiment 4 — Cross-dataset generalization to LUNA25</a:t>
            </a:r>
            <a:endParaRPr b="0" lang="en-US" sz="1800" spc="-1" strike="noStrike">
              <a:latin typeface="Arial"/>
            </a:endParaRPr>
          </a:p>
          <a:p>
            <a:pPr marL="7772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–  </a:t>
            </a: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Apply LIDC-trained model to LUNA25 nodules (different scanners, protocols, patients)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92" name="TextBox 4"/>
          <p:cNvSpPr/>
          <p:nvPr/>
        </p:nvSpPr>
        <p:spPr>
          <a:xfrm>
            <a:off x="10933920" y="6492240"/>
            <a:ext cx="6260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b6b6b"/>
                </a:solidFill>
                <a:latin typeface="Calibri"/>
              </a:rPr>
              <a:t>12 / 20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Box 1"/>
          <p:cNvSpPr/>
          <p:nvPr/>
        </p:nvSpPr>
        <p:spPr>
          <a:xfrm>
            <a:off x="457200" y="320040"/>
            <a:ext cx="112467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000" spc="-1" strike="noStrike">
                <a:solidFill>
                  <a:srgbClr val="1f4e79"/>
                </a:solidFill>
                <a:latin typeface="Calibri"/>
              </a:rPr>
              <a:t>Experiment 1 — GCN vs. MLP Baseline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94" name="Rectangle 2"/>
          <p:cNvSpPr/>
          <p:nvPr/>
        </p:nvSpPr>
        <p:spPr>
          <a:xfrm>
            <a:off x="457200" y="1143000"/>
            <a:ext cx="1462680" cy="45360"/>
          </a:xfrm>
          <a:prstGeom prst="rect">
            <a:avLst/>
          </a:prstGeom>
          <a:solidFill>
            <a:srgbClr val="2e75b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5" name="TextBox 3"/>
          <p:cNvSpPr/>
          <p:nvPr/>
        </p:nvSpPr>
        <p:spPr>
          <a:xfrm>
            <a:off x="548640" y="1371600"/>
            <a:ext cx="11063880" cy="329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3200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Objective: head-to-head AUC test of graph-based aggregation versus independent classification</a:t>
            </a:r>
            <a:endParaRPr b="0" lang="en-US" sz="1800" spc="-1" strike="noStrike">
              <a:latin typeface="Arial"/>
            </a:endParaRPr>
          </a:p>
          <a:p>
            <a:pPr marL="3200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Hypothesis (H1): GCN macro-AUC &gt; MLP macro-AUC by ≥ 0.01 (paired Wilcoxon p &lt; 0.05, 5 folds)</a:t>
            </a:r>
            <a:endParaRPr b="0" lang="en-US" sz="1800" spc="-1" strike="noStrike">
              <a:latin typeface="Arial"/>
            </a:endParaRPr>
          </a:p>
          <a:p>
            <a:pPr marL="3200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Both models consume identical 256-D fused features — the only difference is the KNN graph</a:t>
            </a:r>
            <a:endParaRPr b="0" lang="en-US" sz="1800" spc="-1" strike="noStrike">
              <a:latin typeface="Arial"/>
            </a:endParaRPr>
          </a:p>
          <a:p>
            <a:pPr marL="3200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Inductive KNN construction prevents train / val leakage</a:t>
            </a:r>
            <a:endParaRPr b="0" lang="en-US" sz="1800" spc="-1" strike="noStrike">
              <a:latin typeface="Arial"/>
            </a:endParaRPr>
          </a:p>
          <a:p>
            <a:pPr marL="3200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Metrics: AUC, AUPRC, sensitivity / specificity at Youden-J, Brier score, 10-bin reliability diagram</a:t>
            </a:r>
            <a:endParaRPr b="0" lang="en-US" sz="1800" spc="-1" strike="noStrike">
              <a:latin typeface="Arial"/>
            </a:endParaRPr>
          </a:p>
          <a:p>
            <a:pPr marL="3200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Per-fold class balance: val malignant counts 67, 77, 63, 62, 54 (all above the plan's ≥ 30 threshold)</a:t>
            </a:r>
            <a:endParaRPr b="0" lang="en-US" sz="1800" spc="-1" strike="noStrike">
              <a:latin typeface="Arial"/>
            </a:endParaRPr>
          </a:p>
          <a:p>
            <a:pPr marL="3200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Training: Adam (lr 1e-3, wd 1e-4), 100 epochs with patience-15 early stop on val AUC</a:t>
            </a:r>
            <a:endParaRPr b="0" lang="en-US" sz="1800" spc="-1" strike="noStrike">
              <a:latin typeface="Arial"/>
            </a:endParaRPr>
          </a:p>
          <a:p>
            <a:pPr marL="3200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Status: code + splits committed; waiting on Tencent/MedicalNet resnet_50.pth download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6" name="TextBox 4"/>
          <p:cNvSpPr/>
          <p:nvPr/>
        </p:nvSpPr>
        <p:spPr>
          <a:xfrm>
            <a:off x="10933920" y="6492240"/>
            <a:ext cx="6260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b6b6b"/>
                </a:solidFill>
                <a:latin typeface="Calibri"/>
              </a:rPr>
              <a:t>13 / 20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1"/>
          <p:cNvSpPr/>
          <p:nvPr/>
        </p:nvSpPr>
        <p:spPr>
          <a:xfrm>
            <a:off x="457200" y="320040"/>
            <a:ext cx="1124676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000" spc="-1" strike="noStrike">
                <a:solidFill>
                  <a:srgbClr val="1f4e79"/>
                </a:solidFill>
                <a:latin typeface="Calibri"/>
              </a:rPr>
              <a:t>Experiment 2 — Graph Construction Ablation  (Planned)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98" name="Rectangle 2"/>
          <p:cNvSpPr/>
          <p:nvPr/>
        </p:nvSpPr>
        <p:spPr>
          <a:xfrm>
            <a:off x="457200" y="1143000"/>
            <a:ext cx="1462680" cy="45360"/>
          </a:xfrm>
          <a:prstGeom prst="rect">
            <a:avLst/>
          </a:prstGeom>
          <a:solidFill>
            <a:srgbClr val="2e75b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9" name="TextBox 3"/>
          <p:cNvSpPr/>
          <p:nvPr/>
        </p:nvSpPr>
        <p:spPr>
          <a:xfrm>
            <a:off x="548640" y="1371600"/>
            <a:ext cx="11063880" cy="10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3200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8-cell grid: k ∈ {5, 10, 15, 20}  ×  metric ∈ {cosine, euclidean}</a:t>
            </a:r>
            <a:endParaRPr b="0" lang="en-US" sz="1800" spc="-1" strike="noStrike">
              <a:latin typeface="Arial"/>
            </a:endParaRPr>
          </a:p>
          <a:p>
            <a:pPr marL="3200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Fixed GCN architecture from Experiment 1; re-fit KNN per cell per fold</a:t>
            </a:r>
            <a:endParaRPr b="0" lang="en-US" sz="1800" spc="-1" strike="noStrike">
              <a:latin typeface="Arial"/>
            </a:endParaRPr>
          </a:p>
          <a:p>
            <a:pPr marL="3200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Decision rule: Bonferroni-corrected paired Wilcoxon across the 8 cells</a:t>
            </a:r>
            <a:endParaRPr b="0" lang="en-US" sz="1800" spc="-1" strike="noStrike">
              <a:latin typeface="Arial"/>
            </a:endParaRPr>
          </a:p>
          <a:p>
            <a:pPr marL="3200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Best cell becomes the default for Experiments 3 and 4; null result → keep (k=10, cosine)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0" name="Rectangle 4"/>
          <p:cNvSpPr/>
          <p:nvPr/>
        </p:nvSpPr>
        <p:spPr>
          <a:xfrm>
            <a:off x="1371600" y="4846320"/>
            <a:ext cx="9445320" cy="1645560"/>
          </a:xfrm>
          <a:prstGeom prst="rect">
            <a:avLst/>
          </a:prstGeom>
          <a:solidFill>
            <a:srgbClr val="f5f5f5"/>
          </a:solidFill>
          <a:ln w="19050">
            <a:solidFill>
              <a:srgbClr val="b0b0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8288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6b6b6b"/>
                </a:solidFill>
                <a:latin typeface="Calibri"/>
              </a:rPr>
              <a:t>Results to follow — AUC heatmap over (k, metric)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1" name="TextBox 5"/>
          <p:cNvSpPr/>
          <p:nvPr/>
        </p:nvSpPr>
        <p:spPr>
          <a:xfrm>
            <a:off x="10933920" y="6492240"/>
            <a:ext cx="6260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b6b6b"/>
                </a:solidFill>
                <a:latin typeface="Calibri"/>
              </a:rPr>
              <a:t>14 / 20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Box 1"/>
          <p:cNvSpPr/>
          <p:nvPr/>
        </p:nvSpPr>
        <p:spPr>
          <a:xfrm>
            <a:off x="457200" y="320040"/>
            <a:ext cx="1124676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000" spc="-1" strike="noStrike">
                <a:solidFill>
                  <a:srgbClr val="1f4e79"/>
                </a:solidFill>
                <a:latin typeface="Calibri"/>
              </a:rPr>
              <a:t>Experiment 3 — Feature × Encoder Ablation  (Planned)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103" name="Rectangle 2"/>
          <p:cNvSpPr/>
          <p:nvPr/>
        </p:nvSpPr>
        <p:spPr>
          <a:xfrm>
            <a:off x="457200" y="1143000"/>
            <a:ext cx="1462680" cy="45360"/>
          </a:xfrm>
          <a:prstGeom prst="rect">
            <a:avLst/>
          </a:prstGeom>
          <a:solidFill>
            <a:srgbClr val="2e75b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4" name="TextBox 3"/>
          <p:cNvSpPr/>
          <p:nvPr/>
        </p:nvSpPr>
        <p:spPr>
          <a:xfrm>
            <a:off x="548640" y="1371600"/>
            <a:ext cx="11063880" cy="15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3200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3 × 2 grid: feature configs × image encoders</a:t>
            </a:r>
            <a:endParaRPr b="0" lang="en-US" sz="1800" spc="-1" strike="noStrike">
              <a:latin typeface="Arial"/>
            </a:endParaRPr>
          </a:p>
          <a:p>
            <a:pPr marL="7772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–  </a:t>
            </a: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Features: {image only, image + attributes, image + attributes + spatial}</a:t>
            </a:r>
            <a:endParaRPr b="0" lang="en-US" sz="1600" spc="-1" strike="noStrike">
              <a:latin typeface="Arial"/>
            </a:endParaRPr>
          </a:p>
          <a:p>
            <a:pPr marL="7772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–  </a:t>
            </a: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Encoders:  {Med3D ResNet-50 (baseline), FMCIB foundation model (follow-up)}</a:t>
            </a:r>
            <a:endParaRPr b="0" lang="en-US" sz="1600" spc="-1" strike="noStrike">
              <a:latin typeface="Arial"/>
            </a:endParaRPr>
          </a:p>
          <a:p>
            <a:pPr marL="3200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Pathology-confirmed subset is the primary validation axis (true ground truth)</a:t>
            </a:r>
            <a:endParaRPr b="0" lang="en-US" sz="1800" spc="-1" strike="noStrike">
              <a:latin typeface="Arial"/>
            </a:endParaRPr>
          </a:p>
          <a:p>
            <a:pPr marL="3200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Tests whether radiologist attributes add unique signal beyond the image branch (leakage check)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5" name="Rectangle 4"/>
          <p:cNvSpPr/>
          <p:nvPr/>
        </p:nvSpPr>
        <p:spPr>
          <a:xfrm>
            <a:off x="1371600" y="4846320"/>
            <a:ext cx="9445320" cy="1645560"/>
          </a:xfrm>
          <a:prstGeom prst="rect">
            <a:avLst/>
          </a:prstGeom>
          <a:solidFill>
            <a:srgbClr val="f5f5f5"/>
          </a:solidFill>
          <a:ln w="19050">
            <a:solidFill>
              <a:srgbClr val="b0b0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8288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6b6b6b"/>
                </a:solidFill>
                <a:latin typeface="Calibri"/>
              </a:rPr>
              <a:t>Results to follow — AUC heatmap over feature-config × encoder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6" name="TextBox 5"/>
          <p:cNvSpPr/>
          <p:nvPr/>
        </p:nvSpPr>
        <p:spPr>
          <a:xfrm>
            <a:off x="10933920" y="6492240"/>
            <a:ext cx="6260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b6b6b"/>
                </a:solidFill>
                <a:latin typeface="Calibri"/>
              </a:rPr>
              <a:t>15 / 20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Box 1"/>
          <p:cNvSpPr/>
          <p:nvPr/>
        </p:nvSpPr>
        <p:spPr>
          <a:xfrm>
            <a:off x="457200" y="320040"/>
            <a:ext cx="112467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000" spc="-1" strike="noStrike">
                <a:solidFill>
                  <a:srgbClr val="1f4e79"/>
                </a:solidFill>
                <a:latin typeface="Calibri"/>
              </a:rPr>
              <a:t>Experiment 4 — LUNA25 Cross-Dataset  (Planned)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108" name="Rectangle 2"/>
          <p:cNvSpPr/>
          <p:nvPr/>
        </p:nvSpPr>
        <p:spPr>
          <a:xfrm>
            <a:off x="457200" y="1143000"/>
            <a:ext cx="1462680" cy="45360"/>
          </a:xfrm>
          <a:prstGeom prst="rect">
            <a:avLst/>
          </a:prstGeom>
          <a:solidFill>
            <a:srgbClr val="2e75b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9" name="TextBox 3"/>
          <p:cNvSpPr/>
          <p:nvPr/>
        </p:nvSpPr>
        <p:spPr>
          <a:xfrm>
            <a:off x="548640" y="1371600"/>
            <a:ext cx="11063880" cy="10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3200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Apply LIDC-trained model to LUNA25 nodules (held-out entirely from training)</a:t>
            </a:r>
            <a:endParaRPr b="0" lang="en-US" sz="1800" spc="-1" strike="noStrike">
              <a:latin typeface="Arial"/>
            </a:endParaRPr>
          </a:p>
          <a:p>
            <a:pPr marL="3200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Different source patients, scanners, acquisition protocols</a:t>
            </a:r>
            <a:endParaRPr b="0" lang="en-US" sz="1800" spc="-1" strike="noStrike">
              <a:latin typeface="Arial"/>
            </a:endParaRPr>
          </a:p>
          <a:p>
            <a:pPr marL="3200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Label source: clinical follow-up (binary), not radiologist consensus — cleaner ground truth</a:t>
            </a:r>
            <a:endParaRPr b="0" lang="en-US" sz="1800" spc="-1" strike="noStrike">
              <a:latin typeface="Arial"/>
            </a:endParaRPr>
          </a:p>
          <a:p>
            <a:pPr marL="3200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Tests whether learned representations generalize beyond LIDC's specific reader distribution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0" name="Rectangle 4"/>
          <p:cNvSpPr/>
          <p:nvPr/>
        </p:nvSpPr>
        <p:spPr>
          <a:xfrm>
            <a:off x="1371600" y="4846320"/>
            <a:ext cx="9445320" cy="1645560"/>
          </a:xfrm>
          <a:prstGeom prst="rect">
            <a:avLst/>
          </a:prstGeom>
          <a:solidFill>
            <a:srgbClr val="f5f5f5"/>
          </a:solidFill>
          <a:ln w="19050">
            <a:solidFill>
              <a:srgbClr val="b0b0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8288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6b6b6b"/>
                </a:solidFill>
                <a:latin typeface="Calibri"/>
              </a:rPr>
              <a:t>Results to follow — LIDC→LUNA25 transfer performance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1" name="TextBox 5"/>
          <p:cNvSpPr/>
          <p:nvPr/>
        </p:nvSpPr>
        <p:spPr>
          <a:xfrm>
            <a:off x="10933920" y="6492240"/>
            <a:ext cx="6260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b6b6b"/>
                </a:solidFill>
                <a:latin typeface="Calibri"/>
              </a:rPr>
              <a:t>16 / 20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Box 1"/>
          <p:cNvSpPr/>
          <p:nvPr/>
        </p:nvSpPr>
        <p:spPr>
          <a:xfrm>
            <a:off x="457200" y="320040"/>
            <a:ext cx="112467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000" spc="-1" strike="noStrike">
                <a:solidFill>
                  <a:srgbClr val="1f4e79"/>
                </a:solidFill>
                <a:latin typeface="Calibri"/>
              </a:rPr>
              <a:t>Rensildi's Work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113" name="Rectangle 2"/>
          <p:cNvSpPr/>
          <p:nvPr/>
        </p:nvSpPr>
        <p:spPr>
          <a:xfrm>
            <a:off x="457200" y="1143000"/>
            <a:ext cx="1462680" cy="45360"/>
          </a:xfrm>
          <a:prstGeom prst="rect">
            <a:avLst/>
          </a:prstGeom>
          <a:solidFill>
            <a:srgbClr val="2e75b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4" name="Rectangle 3"/>
          <p:cNvSpPr/>
          <p:nvPr/>
        </p:nvSpPr>
        <p:spPr>
          <a:xfrm>
            <a:off x="1371600" y="1645920"/>
            <a:ext cx="9445320" cy="4754520"/>
          </a:xfrm>
          <a:prstGeom prst="rect">
            <a:avLst/>
          </a:prstGeom>
          <a:solidFill>
            <a:srgbClr val="f5f5f5"/>
          </a:solidFill>
          <a:ln w="19050">
            <a:solidFill>
              <a:srgbClr val="b0b0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8288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6b6b6b"/>
                </a:solidFill>
                <a:latin typeface="Calibri"/>
              </a:rPr>
              <a:t>(Placeholder — Rensildi to fill in focus area, methods, and current progress)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5" name="TextBox 4"/>
          <p:cNvSpPr/>
          <p:nvPr/>
        </p:nvSpPr>
        <p:spPr>
          <a:xfrm>
            <a:off x="10933920" y="6492240"/>
            <a:ext cx="6260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b6b6b"/>
                </a:solidFill>
                <a:latin typeface="Calibri"/>
              </a:rPr>
              <a:t>17 / 20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Box 1"/>
          <p:cNvSpPr/>
          <p:nvPr/>
        </p:nvSpPr>
        <p:spPr>
          <a:xfrm>
            <a:off x="457200" y="320040"/>
            <a:ext cx="112467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000" spc="-1" strike="noStrike">
                <a:solidFill>
                  <a:srgbClr val="1f4e79"/>
                </a:solidFill>
                <a:latin typeface="Calibri"/>
              </a:rPr>
              <a:t>Swathi's Work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117" name="Rectangle 2"/>
          <p:cNvSpPr/>
          <p:nvPr/>
        </p:nvSpPr>
        <p:spPr>
          <a:xfrm>
            <a:off x="457200" y="1143000"/>
            <a:ext cx="1462680" cy="45360"/>
          </a:xfrm>
          <a:prstGeom prst="rect">
            <a:avLst/>
          </a:prstGeom>
          <a:solidFill>
            <a:srgbClr val="2e75b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8" name="Rectangle 3"/>
          <p:cNvSpPr/>
          <p:nvPr/>
        </p:nvSpPr>
        <p:spPr>
          <a:xfrm>
            <a:off x="1371600" y="1645920"/>
            <a:ext cx="9445320" cy="4754520"/>
          </a:xfrm>
          <a:prstGeom prst="rect">
            <a:avLst/>
          </a:prstGeom>
          <a:solidFill>
            <a:srgbClr val="f5f5f5"/>
          </a:solidFill>
          <a:ln w="19050">
            <a:solidFill>
              <a:srgbClr val="b0b0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8288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6b6b6b"/>
                </a:solidFill>
                <a:latin typeface="Calibri"/>
              </a:rPr>
              <a:t>(Placeholder — Swathi to fill in focus area, methods, and current progress)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9" name="TextBox 4"/>
          <p:cNvSpPr/>
          <p:nvPr/>
        </p:nvSpPr>
        <p:spPr>
          <a:xfrm>
            <a:off x="10933920" y="6492240"/>
            <a:ext cx="6260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b6b6b"/>
                </a:solidFill>
                <a:latin typeface="Calibri"/>
              </a:rPr>
              <a:t>18 / 20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Box 1"/>
          <p:cNvSpPr/>
          <p:nvPr/>
        </p:nvSpPr>
        <p:spPr>
          <a:xfrm>
            <a:off x="457200" y="320040"/>
            <a:ext cx="112467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000" spc="-1" strike="noStrike">
                <a:solidFill>
                  <a:srgbClr val="1f4e79"/>
                </a:solidFill>
                <a:latin typeface="Calibri"/>
              </a:rPr>
              <a:t>Current Results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121" name="Rectangle 2"/>
          <p:cNvSpPr/>
          <p:nvPr/>
        </p:nvSpPr>
        <p:spPr>
          <a:xfrm>
            <a:off x="457200" y="1143000"/>
            <a:ext cx="1462680" cy="45360"/>
          </a:xfrm>
          <a:prstGeom prst="rect">
            <a:avLst/>
          </a:prstGeom>
          <a:solidFill>
            <a:srgbClr val="2e75b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2" name="TextBox 3"/>
          <p:cNvSpPr/>
          <p:nvPr/>
        </p:nvSpPr>
        <p:spPr>
          <a:xfrm>
            <a:off x="548640" y="1371600"/>
            <a:ext cx="6766560" cy="374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3200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Data pipeline complete</a:t>
            </a:r>
            <a:endParaRPr b="0" lang="en-US" sz="1800" spc="-1" strike="noStrike">
              <a:latin typeface="Arial"/>
            </a:endParaRPr>
          </a:p>
          <a:p>
            <a:pPr marL="7772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–  </a:t>
            </a: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1,128 labeled nodules from 588 patients (805 benign / 323 malignant)</a:t>
            </a:r>
            <a:endParaRPr b="0" lang="en-US" sz="1600" spc="-1" strike="noStrike">
              <a:latin typeface="Arial"/>
            </a:endParaRPr>
          </a:p>
          <a:p>
            <a:pPr marL="7772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–  </a:t>
            </a: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Patient-level 5-fold CV splits committed; no train / val patient leakage</a:t>
            </a:r>
            <a:endParaRPr b="0" lang="en-US" sz="1600" spc="-1" strike="noStrike">
              <a:latin typeface="Arial"/>
            </a:endParaRPr>
          </a:p>
          <a:p>
            <a:pPr marL="3200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Experiment model code complete and smoke-tested</a:t>
            </a:r>
            <a:endParaRPr b="0" lang="en-US" sz="1800" spc="-1" strike="noStrike">
              <a:latin typeface="Arial"/>
            </a:endParaRPr>
          </a:p>
          <a:p>
            <a:pPr marL="7772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–  </a:t>
            </a: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Multi-modal fusion, 2-layer GCN, parameter-matched MLP, inductive KNN construction</a:t>
            </a:r>
            <a:endParaRPr b="0" lang="en-US" sz="1600" spc="-1" strike="noStrike">
              <a:latin typeface="Arial"/>
            </a:endParaRPr>
          </a:p>
          <a:p>
            <a:pPr marL="7772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–  </a:t>
            </a: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Med3D ResNet-50 backbone wired; forward pass verified at (N, 2048) on CUDA (random init)</a:t>
            </a:r>
            <a:endParaRPr b="0" lang="en-US" sz="1600" spc="-1" strike="noStrike">
              <a:latin typeface="Arial"/>
            </a:endParaRPr>
          </a:p>
          <a:p>
            <a:pPr marL="3200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No training numbers yet</a:t>
            </a:r>
            <a:endParaRPr b="0" lang="en-US" sz="1800" spc="-1" strike="noStrike">
              <a:latin typeface="Arial"/>
            </a:endParaRPr>
          </a:p>
          <a:p>
            <a:pPr marL="7772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–  </a:t>
            </a: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Training requires Tencent/MedicalNet pretrained weights (manual download — no wget URL)</a:t>
            </a:r>
            <a:endParaRPr b="0" lang="en-US" sz="1600" spc="-1" strike="noStrike">
              <a:latin typeface="Arial"/>
            </a:endParaRPr>
          </a:p>
          <a:p>
            <a:pPr marL="7772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–  </a:t>
            </a: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Full GCN vs. MLP run expected to take ~1 – 2 hours on the RTX 3060 once features are cached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23" name="TextBox 4"/>
          <p:cNvSpPr/>
          <p:nvPr/>
        </p:nvSpPr>
        <p:spPr>
          <a:xfrm>
            <a:off x="10933920" y="6492240"/>
            <a:ext cx="6260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b6b6b"/>
                </a:solidFill>
                <a:latin typeface="Calibri"/>
              </a:rPr>
              <a:t>19 / 20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Box 1"/>
          <p:cNvSpPr/>
          <p:nvPr/>
        </p:nvSpPr>
        <p:spPr>
          <a:xfrm>
            <a:off x="457200" y="320040"/>
            <a:ext cx="112467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000" spc="-1" strike="noStrike">
                <a:solidFill>
                  <a:srgbClr val="1f4e79"/>
                </a:solidFill>
                <a:latin typeface="Calibri"/>
              </a:rPr>
              <a:t>Next Steps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125" name="Rectangle 2"/>
          <p:cNvSpPr/>
          <p:nvPr/>
        </p:nvSpPr>
        <p:spPr>
          <a:xfrm>
            <a:off x="457200" y="1143000"/>
            <a:ext cx="1462680" cy="45360"/>
          </a:xfrm>
          <a:prstGeom prst="rect">
            <a:avLst/>
          </a:prstGeom>
          <a:solidFill>
            <a:srgbClr val="2e75b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6" name="TextBox 3"/>
          <p:cNvSpPr/>
          <p:nvPr/>
        </p:nvSpPr>
        <p:spPr>
          <a:xfrm>
            <a:off x="548640" y="1371600"/>
            <a:ext cx="1106388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3200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...</a:t>
            </a:r>
            <a:endParaRPr b="0" lang="en-US" sz="1800" spc="-1" strike="noStrike">
              <a:latin typeface="Arial"/>
            </a:endParaRPr>
          </a:p>
          <a:p>
            <a:pPr marL="320040" indent="-274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•  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7" name="TextBox 4"/>
          <p:cNvSpPr/>
          <p:nvPr/>
        </p:nvSpPr>
        <p:spPr>
          <a:xfrm>
            <a:off x="10933920" y="6492240"/>
            <a:ext cx="6260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b6b6b"/>
                </a:solidFill>
                <a:latin typeface="Calibri"/>
              </a:rPr>
              <a:t>20 / 20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2026-04-19T23:24:56Z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